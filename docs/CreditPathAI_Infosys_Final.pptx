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66" r:id="rId2"/>
    <p:sldId id="256" r:id="rId3"/>
    <p:sldId id="257" r:id="rId4"/>
    <p:sldId id="258" r:id="rId5"/>
    <p:sldId id="259" r:id="rId6"/>
    <p:sldId id="260" r:id="rId7"/>
    <p:sldId id="261" r:id="rId8"/>
    <p:sldId id="262" r:id="rId9"/>
    <p:sldId id="263" r:id="rId10"/>
    <p:sldId id="264" r:id="rId11"/>
    <p:sldId id="265"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932" autoAdjust="0"/>
  </p:normalViewPr>
  <p:slideViewPr>
    <p:cSldViewPr snapToGrid="0" snapToObjects="1">
      <p:cViewPr varScale="1">
        <p:scale>
          <a:sx n="89" d="100"/>
          <a:sy n="89" d="100"/>
        </p:scale>
        <p:origin x="128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1084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1/19/2026</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2650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52601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446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3630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441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1893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17886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8301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77493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9856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16757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60196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05988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453726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60384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21991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5614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1/19/2026</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641833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EABA1-9FAD-9A80-6BF7-BF3232C162E8}"/>
              </a:ext>
            </a:extLst>
          </p:cNvPr>
          <p:cNvSpPr>
            <a:spLocks noGrp="1"/>
          </p:cNvSpPr>
          <p:nvPr>
            <p:ph type="ctrTitle"/>
          </p:nvPr>
        </p:nvSpPr>
        <p:spPr>
          <a:xfrm>
            <a:off x="685800" y="828381"/>
            <a:ext cx="7772400" cy="1470025"/>
          </a:xfrm>
        </p:spPr>
        <p:txBody>
          <a:bodyPr/>
          <a:lstStyle/>
          <a:p>
            <a:r>
              <a:rPr lang="en-US" sz="4400" b="1" u="sng" dirty="0">
                <a:solidFill>
                  <a:schemeClr val="accent4">
                    <a:lumMod val="50000"/>
                  </a:schemeClr>
                </a:solidFill>
                <a:latin typeface="Century" panose="02040604050505020304" pitchFamily="18" charset="0"/>
              </a:rPr>
              <a:t>CreditPathAI</a:t>
            </a:r>
            <a:endParaRPr lang="en-IN" sz="4400" b="1" u="sng" dirty="0">
              <a:solidFill>
                <a:schemeClr val="accent4">
                  <a:lumMod val="50000"/>
                </a:schemeClr>
              </a:solidFill>
              <a:latin typeface="Century" panose="02040604050505020304" pitchFamily="18" charset="0"/>
            </a:endParaRPr>
          </a:p>
        </p:txBody>
      </p:sp>
      <p:sp>
        <p:nvSpPr>
          <p:cNvPr id="3" name="Subtitle 2">
            <a:extLst>
              <a:ext uri="{FF2B5EF4-FFF2-40B4-BE49-F238E27FC236}">
                <a16:creationId xmlns:a16="http://schemas.microsoft.com/office/drawing/2014/main" id="{4FF41A5B-E060-CD85-66FD-6E0422218EB6}"/>
              </a:ext>
            </a:extLst>
          </p:cNvPr>
          <p:cNvSpPr>
            <a:spLocks noGrp="1"/>
          </p:cNvSpPr>
          <p:nvPr>
            <p:ph type="subTitle" idx="1"/>
          </p:nvPr>
        </p:nvSpPr>
        <p:spPr>
          <a:xfrm>
            <a:off x="1917567" y="2224818"/>
            <a:ext cx="5308866" cy="1377651"/>
          </a:xfrm>
        </p:spPr>
        <p:txBody>
          <a:bodyPr>
            <a:normAutofit/>
          </a:bodyPr>
          <a:lstStyle/>
          <a:p>
            <a:r>
              <a:rPr lang="en-US" sz="1650" b="1" dirty="0">
                <a:latin typeface="Century" panose="02040604050505020304" pitchFamily="18" charset="0"/>
              </a:rPr>
              <a:t>Automating and optimizing the loan recovery lifecycle by modeling repayment behavior using diverse data</a:t>
            </a:r>
            <a:endParaRPr lang="en-US" sz="1650" b="1" i="1" dirty="0">
              <a:solidFill>
                <a:schemeClr val="bg2">
                  <a:lumMod val="50000"/>
                </a:schemeClr>
              </a:solidFill>
              <a:latin typeface="Century" panose="02040604050505020304" pitchFamily="18" charset="0"/>
            </a:endParaRPr>
          </a:p>
          <a:p>
            <a:r>
              <a:rPr lang="en-IN" sz="1650" b="1" dirty="0">
                <a:solidFill>
                  <a:srgbClr val="9B2E15"/>
                </a:solidFill>
                <a:latin typeface="Century" panose="02040604050505020304" pitchFamily="18" charset="0"/>
              </a:rPr>
              <a:t>Infosys Springboard Internship</a:t>
            </a:r>
          </a:p>
          <a:p>
            <a:endParaRPr lang="en-IN" dirty="0"/>
          </a:p>
        </p:txBody>
      </p:sp>
      <p:sp>
        <p:nvSpPr>
          <p:cNvPr id="4" name="TextBox 3">
            <a:extLst>
              <a:ext uri="{FF2B5EF4-FFF2-40B4-BE49-F238E27FC236}">
                <a16:creationId xmlns:a16="http://schemas.microsoft.com/office/drawing/2014/main" id="{6B97A47A-D90A-ACEE-A1B0-DE9D9266E8E9}"/>
              </a:ext>
            </a:extLst>
          </p:cNvPr>
          <p:cNvSpPr txBox="1"/>
          <p:nvPr/>
        </p:nvSpPr>
        <p:spPr>
          <a:xfrm>
            <a:off x="2859657" y="3534577"/>
            <a:ext cx="3592902" cy="1762021"/>
          </a:xfrm>
          <a:prstGeom prst="rect">
            <a:avLst/>
          </a:prstGeom>
          <a:noFill/>
        </p:spPr>
        <p:txBody>
          <a:bodyPr wrap="square" rtlCol="0">
            <a:spAutoFit/>
          </a:bodyPr>
          <a:lstStyle/>
          <a:p>
            <a:r>
              <a:rPr lang="en-IN" sz="1550" b="1" u="sng" dirty="0">
                <a:latin typeface="Century" panose="02040604050505020304" pitchFamily="18" charset="0"/>
              </a:rPr>
              <a:t>Presented By</a:t>
            </a:r>
            <a:r>
              <a:rPr lang="en-IN" sz="1550" b="1" dirty="0">
                <a:latin typeface="Century" panose="02040604050505020304" pitchFamily="18" charset="0"/>
              </a:rPr>
              <a:t> : </a:t>
            </a:r>
            <a:r>
              <a:rPr lang="en-IN" sz="1550" dirty="0">
                <a:latin typeface="Century" panose="02040604050505020304" pitchFamily="18" charset="0"/>
              </a:rPr>
              <a:t>Divyashree N</a:t>
            </a:r>
          </a:p>
          <a:p>
            <a:r>
              <a:rPr lang="en-IN" sz="1550" dirty="0">
                <a:latin typeface="Century" panose="02040604050505020304" pitchFamily="18" charset="0"/>
              </a:rPr>
              <a:t>			Harsh Patel</a:t>
            </a:r>
          </a:p>
          <a:p>
            <a:r>
              <a:rPr lang="en-IN" sz="1550" dirty="0">
                <a:latin typeface="Century" panose="02040604050505020304" pitchFamily="18" charset="0"/>
              </a:rPr>
              <a:t>			Rachit Bhadade </a:t>
            </a:r>
          </a:p>
          <a:p>
            <a:r>
              <a:rPr lang="en-IN" sz="1550" dirty="0">
                <a:latin typeface="Century" panose="02040604050505020304" pitchFamily="18" charset="0"/>
              </a:rPr>
              <a:t>			Sayantani Das</a:t>
            </a:r>
          </a:p>
          <a:p>
            <a:r>
              <a:rPr lang="en-IN" sz="1550" dirty="0">
                <a:latin typeface="Century" panose="02040604050505020304" pitchFamily="18" charset="0"/>
              </a:rPr>
              <a:t>			Subhash Chindukuri</a:t>
            </a:r>
          </a:p>
          <a:p>
            <a:endParaRPr lang="en-IN" sz="1550" dirty="0">
              <a:latin typeface="Century" panose="02040604050505020304" pitchFamily="18" charset="0"/>
            </a:endParaRPr>
          </a:p>
          <a:p>
            <a:r>
              <a:rPr lang="en-IN" sz="1550" b="1" u="sng" dirty="0">
                <a:latin typeface="Century" panose="02040604050505020304" pitchFamily="18" charset="0"/>
              </a:rPr>
              <a:t>Mentor</a:t>
            </a:r>
            <a:r>
              <a:rPr lang="en-IN" sz="1550" b="1" dirty="0">
                <a:latin typeface="Century" panose="02040604050505020304" pitchFamily="18" charset="0"/>
              </a:rPr>
              <a:t> :</a:t>
            </a:r>
            <a:r>
              <a:rPr lang="en-IN" sz="1550" dirty="0">
                <a:latin typeface="Century" panose="02040604050505020304" pitchFamily="18" charset="0"/>
              </a:rPr>
              <a:t> Sai Rohith (Data Scientist) </a:t>
            </a:r>
          </a:p>
        </p:txBody>
      </p:sp>
    </p:spTree>
    <p:extLst>
      <p:ext uri="{BB962C8B-B14F-4D97-AF65-F5344CB8AC3E}">
        <p14:creationId xmlns:p14="http://schemas.microsoft.com/office/powerpoint/2010/main" val="3750584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u="sng" dirty="0">
                <a:latin typeface="Century" panose="02040604050505020304" pitchFamily="18" charset="0"/>
              </a:rPr>
              <a:t>Abstract</a:t>
            </a:r>
          </a:p>
        </p:txBody>
      </p:sp>
      <p:sp>
        <p:nvSpPr>
          <p:cNvPr id="3" name="Content Placeholder 2"/>
          <p:cNvSpPr>
            <a:spLocks noGrp="1"/>
          </p:cNvSpPr>
          <p:nvPr>
            <p:ph idx="1"/>
          </p:nvPr>
        </p:nvSpPr>
        <p:spPr>
          <a:xfrm>
            <a:off x="1176866" y="2497666"/>
            <a:ext cx="6798736" cy="3444997"/>
          </a:xfrm>
        </p:spPr>
        <p:txBody>
          <a:bodyPr>
            <a:normAutofit fontScale="25000" lnSpcReduction="20000"/>
          </a:bodyPr>
          <a:lstStyle/>
          <a:p>
            <a:r>
              <a:rPr sz="6600" dirty="0">
                <a:latin typeface="Century" panose="02040604050505020304" pitchFamily="18" charset="0"/>
              </a:rPr>
              <a:t>CreditPathAI is an AI-driven loan recovery decision support system.</a:t>
            </a:r>
          </a:p>
          <a:p>
            <a:r>
              <a:rPr sz="6600" dirty="0">
                <a:latin typeface="Century" panose="02040604050505020304" pitchFamily="18" charset="0"/>
              </a:rPr>
              <a:t>Predicts borrower default risk using ML models.</a:t>
            </a:r>
          </a:p>
          <a:p>
            <a:r>
              <a:rPr sz="6600" dirty="0">
                <a:latin typeface="Century" panose="02040604050505020304" pitchFamily="18" charset="0"/>
              </a:rPr>
              <a:t>Classifies borrowers into risk categories (low, medium, high).</a:t>
            </a:r>
          </a:p>
          <a:p>
            <a:r>
              <a:rPr sz="6600" dirty="0">
                <a:latin typeface="Century" panose="02040604050505020304" pitchFamily="18" charset="0"/>
              </a:rPr>
              <a:t>Provides actionable recovery recommendations via dashboard.</a:t>
            </a:r>
          </a:p>
          <a:p>
            <a:r>
              <a:rPr sz="6600" dirty="0">
                <a:latin typeface="Century" panose="02040604050505020304" pitchFamily="18" charset="0"/>
              </a:rPr>
              <a:t>Objective: Reduce NPAs, improve recovery efficiency, support agents.</a:t>
            </a:r>
            <a:endParaRPr lang="en-IN" sz="6600" dirty="0">
              <a:latin typeface="Century" panose="02040604050505020304" pitchFamily="18" charset="0"/>
            </a:endParaRPr>
          </a:p>
          <a:p>
            <a:pPr>
              <a:lnSpc>
                <a:spcPct val="120000"/>
              </a:lnSpc>
            </a:pPr>
            <a:r>
              <a:rPr lang="en-US" sz="6600" dirty="0">
                <a:latin typeface="Century" panose="02040604050505020304" pitchFamily="18" charset="0"/>
              </a:rPr>
              <a:t>CreditPathAI is designed to help banks and NBFCs automate loan recovery decisions. It uses machine learning to predict which borrowers are likely to default and recommends actions based on risk levels. This helps reduce non-performing assets and supports recovery agents with data-driven insights.</a:t>
            </a:r>
          </a:p>
          <a:p>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latin typeface="Century" panose="02040604050505020304" pitchFamily="18" charset="0"/>
              </a:rPr>
              <a:t>Introduction</a:t>
            </a:r>
          </a:p>
        </p:txBody>
      </p:sp>
      <p:sp>
        <p:nvSpPr>
          <p:cNvPr id="3" name="Content Placeholder 2"/>
          <p:cNvSpPr>
            <a:spLocks noGrp="1"/>
          </p:cNvSpPr>
          <p:nvPr>
            <p:ph idx="1"/>
          </p:nvPr>
        </p:nvSpPr>
        <p:spPr/>
        <p:txBody>
          <a:bodyPr>
            <a:normAutofit fontScale="25000" lnSpcReduction="20000"/>
          </a:bodyPr>
          <a:lstStyle/>
          <a:p>
            <a:r>
              <a:rPr sz="6600" dirty="0">
                <a:latin typeface="Century" panose="02040604050505020304" pitchFamily="18" charset="0"/>
              </a:rPr>
              <a:t>BFSI sector faces rising NPAs and inefficient manual recovery.</a:t>
            </a:r>
          </a:p>
          <a:p>
            <a:r>
              <a:rPr sz="6600" dirty="0">
                <a:latin typeface="Century" panose="02040604050505020304" pitchFamily="18" charset="0"/>
              </a:rPr>
              <a:t>Loan defaults lead to financial instability.</a:t>
            </a:r>
          </a:p>
          <a:p>
            <a:r>
              <a:rPr sz="6600" dirty="0">
                <a:latin typeface="Century" panose="02040604050505020304" pitchFamily="18" charset="0"/>
              </a:rPr>
              <a:t>Traditional recovery is costly, time-consuming, and error-prone.</a:t>
            </a:r>
          </a:p>
          <a:p>
            <a:r>
              <a:rPr sz="6600" dirty="0">
                <a:latin typeface="Century" panose="02040604050505020304" pitchFamily="18" charset="0"/>
              </a:rPr>
              <a:t>AI enables automation of risk scoring and recovery prioritization.</a:t>
            </a:r>
          </a:p>
          <a:p>
            <a:r>
              <a:rPr sz="6600" dirty="0">
                <a:latin typeface="Century" panose="02040604050505020304" pitchFamily="18" charset="0"/>
              </a:rPr>
              <a:t>CreditPathAI bridges this gap with an end-to-end ML lifecycle.</a:t>
            </a:r>
            <a:endParaRPr lang="en-IN" sz="6600" dirty="0">
              <a:latin typeface="Century" panose="02040604050505020304" pitchFamily="18" charset="0"/>
            </a:endParaRPr>
          </a:p>
          <a:p>
            <a:pPr>
              <a:lnSpc>
                <a:spcPct val="120000"/>
              </a:lnSpc>
            </a:pPr>
            <a:r>
              <a:rPr lang="en-US" sz="6600" dirty="0">
                <a:latin typeface="Century" panose="02040604050505020304" pitchFamily="18" charset="0"/>
              </a:rPr>
              <a:t>The financial sector is under pressure due to increasing loan defaults. Manual recovery processes are not scalable. CreditPathAI introduces automation using AI to streamline recovery and improve decision making.</a:t>
            </a:r>
          </a:p>
          <a:p>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latin typeface="Century" panose="02040604050505020304" pitchFamily="18" charset="0"/>
              </a:rPr>
              <a:t>Literature Survey</a:t>
            </a:r>
          </a:p>
        </p:txBody>
      </p:sp>
      <p:sp>
        <p:nvSpPr>
          <p:cNvPr id="3" name="Content Placeholder 2"/>
          <p:cNvSpPr>
            <a:spLocks noGrp="1"/>
          </p:cNvSpPr>
          <p:nvPr>
            <p:ph idx="1"/>
          </p:nvPr>
        </p:nvSpPr>
        <p:spPr/>
        <p:txBody>
          <a:bodyPr>
            <a:normAutofit lnSpcReduction="10000"/>
          </a:bodyPr>
          <a:lstStyle/>
          <a:p>
            <a:r>
              <a:rPr sz="1800" dirty="0">
                <a:latin typeface="Century" panose="02040604050505020304" pitchFamily="18" charset="0"/>
              </a:rPr>
              <a:t>Credit risk modeling evolved from statistical to ML-based methods.</a:t>
            </a:r>
          </a:p>
          <a:p>
            <a:r>
              <a:rPr sz="1800" dirty="0">
                <a:latin typeface="Century" panose="02040604050505020304" pitchFamily="18" charset="0"/>
              </a:rPr>
              <a:t>BFSI uses ML for fraud detection, scoring, and profiling.</a:t>
            </a:r>
          </a:p>
          <a:p>
            <a:r>
              <a:rPr sz="1800" dirty="0">
                <a:latin typeface="Century" panose="02040604050505020304" pitchFamily="18" charset="0"/>
              </a:rPr>
              <a:t>Kaggle Home Credit dataset provides real-world borrower data.</a:t>
            </a:r>
          </a:p>
          <a:p>
            <a:r>
              <a:rPr sz="1800" dirty="0">
                <a:latin typeface="Century" panose="02040604050505020304" pitchFamily="18" charset="0"/>
              </a:rPr>
              <a:t>Widely used for benchmarking credit risk prediction models.</a:t>
            </a:r>
            <a:endParaRPr lang="en-IN" sz="1800" dirty="0">
              <a:latin typeface="Century" panose="02040604050505020304" pitchFamily="18" charset="0"/>
            </a:endParaRPr>
          </a:p>
          <a:p>
            <a:r>
              <a:rPr lang="en-US" sz="1800" dirty="0">
                <a:latin typeface="Century" panose="02040604050505020304" pitchFamily="18" charset="0"/>
              </a:rPr>
              <a:t>Research shows that machine learning models outperform traditional methods in credit risk prediction. The Kaggle dataset used in this project is a standard benchmark in the field, making it ideal for experimentation and validation.</a:t>
            </a:r>
          </a:p>
          <a:p>
            <a:endParaRPr sz="1800" dirty="0">
              <a:latin typeface="Century" panose="020406040505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latin typeface="Century" panose="02040604050505020304" pitchFamily="18" charset="0"/>
              </a:rPr>
              <a:t>Technologies Used</a:t>
            </a:r>
          </a:p>
        </p:txBody>
      </p:sp>
      <p:sp>
        <p:nvSpPr>
          <p:cNvPr id="3" name="Content Placeholder 2"/>
          <p:cNvSpPr>
            <a:spLocks noGrp="1"/>
          </p:cNvSpPr>
          <p:nvPr>
            <p:ph idx="1"/>
          </p:nvPr>
        </p:nvSpPr>
        <p:spPr/>
        <p:txBody>
          <a:bodyPr>
            <a:normAutofit fontScale="70000" lnSpcReduction="20000"/>
          </a:bodyPr>
          <a:lstStyle/>
          <a:p>
            <a:r>
              <a:rPr dirty="0">
                <a:latin typeface="Century" panose="02040604050505020304" pitchFamily="18" charset="0"/>
              </a:rPr>
              <a:t>Python, Pandas, NumPy – Data processing and analysis.</a:t>
            </a:r>
          </a:p>
          <a:p>
            <a:r>
              <a:rPr dirty="0">
                <a:latin typeface="Century" panose="02040604050505020304" pitchFamily="18" charset="0"/>
              </a:rPr>
              <a:t>Scikit-learn, </a:t>
            </a:r>
            <a:r>
              <a:rPr dirty="0" err="1">
                <a:latin typeface="Century" panose="02040604050505020304" pitchFamily="18" charset="0"/>
              </a:rPr>
              <a:t>XGBoost</a:t>
            </a:r>
            <a:r>
              <a:rPr dirty="0">
                <a:latin typeface="Century" panose="02040604050505020304" pitchFamily="18" charset="0"/>
              </a:rPr>
              <a:t> – Machine learning models.</a:t>
            </a:r>
          </a:p>
          <a:p>
            <a:r>
              <a:rPr dirty="0">
                <a:latin typeface="Century" panose="02040604050505020304" pitchFamily="18" charset="0"/>
              </a:rPr>
              <a:t>FastAPI – Backend API for model inference.</a:t>
            </a:r>
          </a:p>
          <a:p>
            <a:r>
              <a:rPr dirty="0">
                <a:latin typeface="Century" panose="02040604050505020304" pitchFamily="18" charset="0"/>
              </a:rPr>
              <a:t>React.js, Plotly.js – Interactive frontend dashboard.</a:t>
            </a:r>
          </a:p>
          <a:p>
            <a:r>
              <a:rPr dirty="0">
                <a:latin typeface="Century" panose="02040604050505020304" pitchFamily="18" charset="0"/>
              </a:rPr>
              <a:t>SQLite – Efficient data storage and joins during EDA.</a:t>
            </a:r>
            <a:endParaRPr lang="en-IN" dirty="0">
              <a:latin typeface="Century" panose="02040604050505020304" pitchFamily="18" charset="0"/>
            </a:endParaRPr>
          </a:p>
          <a:p>
            <a:pPr>
              <a:lnSpc>
                <a:spcPct val="120000"/>
              </a:lnSpc>
            </a:pPr>
            <a:r>
              <a:rPr lang="en-US" sz="2600" dirty="0">
                <a:latin typeface="Century" panose="02040604050505020304" pitchFamily="18" charset="0"/>
              </a:rPr>
              <a:t>The project uses a modern tech stack. Python and its libraries handle data and modeling. FastAPI serves predictions, while React and Plotly power the frontend. SQLite is used for efficient data handling during feature engineering.</a:t>
            </a:r>
          </a:p>
          <a:p>
            <a:endParaRPr dirty="0">
              <a:latin typeface="Century" panose="020406040505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latin typeface="Century" panose="02040604050505020304" pitchFamily="18" charset="0"/>
              </a:rPr>
              <a:t>Dataset Description</a:t>
            </a:r>
          </a:p>
        </p:txBody>
      </p:sp>
      <p:sp>
        <p:nvSpPr>
          <p:cNvPr id="3" name="Content Placeholder 2"/>
          <p:cNvSpPr>
            <a:spLocks noGrp="1"/>
          </p:cNvSpPr>
          <p:nvPr>
            <p:ph idx="1"/>
          </p:nvPr>
        </p:nvSpPr>
        <p:spPr/>
        <p:txBody>
          <a:bodyPr>
            <a:normAutofit fontScale="70000" lnSpcReduction="20000"/>
          </a:bodyPr>
          <a:lstStyle/>
          <a:p>
            <a:r>
              <a:rPr dirty="0">
                <a:latin typeface="Century" panose="02040604050505020304" pitchFamily="18" charset="0"/>
              </a:rPr>
              <a:t>Source: Kaggle Home Credit Default Risk dataset.</a:t>
            </a:r>
          </a:p>
          <a:p>
            <a:r>
              <a:rPr dirty="0">
                <a:latin typeface="Century" panose="02040604050505020304" pitchFamily="18" charset="0"/>
              </a:rPr>
              <a:t>application_train.csv – Main customer data with target variable.</a:t>
            </a:r>
          </a:p>
          <a:p>
            <a:r>
              <a:rPr dirty="0">
                <a:latin typeface="Century" panose="02040604050505020304" pitchFamily="18" charset="0"/>
              </a:rPr>
              <a:t>bureau.csv – External credit history.</a:t>
            </a:r>
          </a:p>
          <a:p>
            <a:r>
              <a:rPr dirty="0">
                <a:latin typeface="Century" panose="02040604050505020304" pitchFamily="18" charset="0"/>
              </a:rPr>
              <a:t>previous_application.csv – Past loan applications.</a:t>
            </a:r>
          </a:p>
          <a:p>
            <a:r>
              <a:rPr lang="en-IN" dirty="0" err="1">
                <a:latin typeface="Century" panose="02040604050505020304" pitchFamily="18" charset="0"/>
              </a:rPr>
              <a:t>i</a:t>
            </a:r>
            <a:r>
              <a:rPr dirty="0">
                <a:latin typeface="Century" panose="02040604050505020304" pitchFamily="18" charset="0"/>
              </a:rPr>
              <a:t>nstallments_payments.csv, credit_card_balance.csv – Payment behavior.</a:t>
            </a:r>
            <a:endParaRPr lang="en-IN" dirty="0">
              <a:latin typeface="Century" panose="02040604050505020304" pitchFamily="18" charset="0"/>
            </a:endParaRPr>
          </a:p>
          <a:p>
            <a:pPr>
              <a:lnSpc>
                <a:spcPct val="120000"/>
              </a:lnSpc>
            </a:pPr>
            <a:r>
              <a:rPr lang="en-US" dirty="0">
                <a:latin typeface="Century" panose="02040604050505020304" pitchFamily="18" charset="0"/>
              </a:rPr>
              <a:t>The dataset includes multiple files capturing borrower demographics, credit history, and repayment behavior. This comprehensive data enables robust feature engineering and accurate risk prediction.</a:t>
            </a:r>
          </a:p>
          <a:p>
            <a:endParaRPr dirty="0">
              <a:latin typeface="Century" panose="020406040505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latin typeface="Century" panose="02040604050505020304" pitchFamily="18" charset="0"/>
              </a:rPr>
              <a:t>Methodology</a:t>
            </a:r>
          </a:p>
        </p:txBody>
      </p:sp>
      <p:sp>
        <p:nvSpPr>
          <p:cNvPr id="3" name="Content Placeholder 2"/>
          <p:cNvSpPr>
            <a:spLocks noGrp="1"/>
          </p:cNvSpPr>
          <p:nvPr>
            <p:ph idx="1"/>
          </p:nvPr>
        </p:nvSpPr>
        <p:spPr/>
        <p:txBody>
          <a:bodyPr>
            <a:normAutofit fontScale="92500"/>
          </a:bodyPr>
          <a:lstStyle/>
          <a:p>
            <a:r>
              <a:rPr sz="1600" dirty="0">
                <a:latin typeface="Century" panose="02040604050505020304" pitchFamily="18" charset="0"/>
              </a:rPr>
              <a:t>Data Ingestion – Load and clean raw datasets.</a:t>
            </a:r>
          </a:p>
          <a:p>
            <a:r>
              <a:rPr sz="1600" dirty="0">
                <a:latin typeface="Century" panose="02040604050505020304" pitchFamily="18" charset="0"/>
              </a:rPr>
              <a:t>EDA – Analyze distributions, missing values, correlations.</a:t>
            </a:r>
          </a:p>
          <a:p>
            <a:r>
              <a:rPr sz="1600" dirty="0">
                <a:latin typeface="Century" panose="02040604050505020304" pitchFamily="18" charset="0"/>
              </a:rPr>
              <a:t>Feature Engineering – Aggregate features using SQLite.</a:t>
            </a:r>
          </a:p>
          <a:p>
            <a:r>
              <a:rPr sz="1600" dirty="0">
                <a:latin typeface="Century" panose="02040604050505020304" pitchFamily="18" charset="0"/>
              </a:rPr>
              <a:t>Model Training – Logistic Regression, Random Forest, </a:t>
            </a:r>
            <a:r>
              <a:rPr sz="1600" dirty="0" err="1">
                <a:latin typeface="Century" panose="02040604050505020304" pitchFamily="18" charset="0"/>
              </a:rPr>
              <a:t>XGBoost</a:t>
            </a:r>
            <a:r>
              <a:rPr sz="1600" dirty="0">
                <a:latin typeface="Century" panose="02040604050505020304" pitchFamily="18" charset="0"/>
              </a:rPr>
              <a:t>.</a:t>
            </a:r>
          </a:p>
          <a:p>
            <a:r>
              <a:rPr sz="1600" dirty="0">
                <a:latin typeface="Century" panose="02040604050505020304" pitchFamily="18" charset="0"/>
              </a:rPr>
              <a:t>API – FastAPI for serving predictions.</a:t>
            </a:r>
          </a:p>
          <a:p>
            <a:r>
              <a:rPr sz="1600" dirty="0">
                <a:latin typeface="Century" panose="02040604050505020304" pitchFamily="18" charset="0"/>
              </a:rPr>
              <a:t>Frontend – React.js dashboard for visualization and recommendations.</a:t>
            </a:r>
            <a:endParaRPr lang="en-IN" sz="1600" dirty="0">
              <a:latin typeface="Century" panose="02040604050505020304" pitchFamily="18" charset="0"/>
            </a:endParaRPr>
          </a:p>
          <a:p>
            <a:pPr>
              <a:lnSpc>
                <a:spcPct val="120000"/>
              </a:lnSpc>
            </a:pPr>
            <a:r>
              <a:rPr lang="en-US" sz="1600" dirty="0">
                <a:latin typeface="Century" panose="02040604050505020304" pitchFamily="18" charset="0"/>
              </a:rPr>
              <a:t>The project follows a structured ML lifecycle. After cleaning and exploring the data, features are engineered and models are trained. The final model is deployed via API and integrated into a frontend dashboard.</a:t>
            </a:r>
          </a:p>
          <a:p>
            <a:endParaRPr sz="1600" dirty="0">
              <a:latin typeface="Century" panose="020406040505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latin typeface="Century" panose="02040604050505020304" pitchFamily="18" charset="0"/>
              </a:rPr>
              <a:t>Unique Contributions</a:t>
            </a:r>
          </a:p>
        </p:txBody>
      </p:sp>
      <p:sp>
        <p:nvSpPr>
          <p:cNvPr id="3" name="Content Placeholder 2"/>
          <p:cNvSpPr>
            <a:spLocks noGrp="1"/>
          </p:cNvSpPr>
          <p:nvPr>
            <p:ph idx="1"/>
          </p:nvPr>
        </p:nvSpPr>
        <p:spPr/>
        <p:txBody>
          <a:bodyPr>
            <a:normAutofit fontScale="77500" lnSpcReduction="20000"/>
          </a:bodyPr>
          <a:lstStyle/>
          <a:p>
            <a:r>
              <a:rPr dirty="0">
                <a:latin typeface="Century" panose="02040604050505020304" pitchFamily="18" charset="0"/>
              </a:rPr>
              <a:t>End-to-end ML pipeline from raw data to frontend.</a:t>
            </a:r>
          </a:p>
          <a:p>
            <a:r>
              <a:rPr dirty="0">
                <a:latin typeface="Century" panose="02040604050505020304" pitchFamily="18" charset="0"/>
              </a:rPr>
              <a:t>SQLite-based feature engineering for memory efficiency.</a:t>
            </a:r>
          </a:p>
          <a:p>
            <a:r>
              <a:rPr dirty="0">
                <a:latin typeface="Century" panose="02040604050505020304" pitchFamily="18" charset="0"/>
              </a:rPr>
              <a:t>Rule-based recommendation engine for recovery actions.</a:t>
            </a:r>
          </a:p>
          <a:p>
            <a:r>
              <a:rPr dirty="0">
                <a:latin typeface="Century" panose="02040604050505020304" pitchFamily="18" charset="0"/>
              </a:rPr>
              <a:t>Production-ready API and dashboard architecture.</a:t>
            </a:r>
          </a:p>
          <a:p>
            <a:r>
              <a:rPr dirty="0">
                <a:latin typeface="Century" panose="02040604050505020304" pitchFamily="18" charset="0"/>
              </a:rPr>
              <a:t>Business-focused KPIs and stakeholder usability.</a:t>
            </a:r>
            <a:endParaRPr lang="en-IN" dirty="0">
              <a:latin typeface="Century" panose="02040604050505020304" pitchFamily="18" charset="0"/>
            </a:endParaRPr>
          </a:p>
          <a:p>
            <a:pPr>
              <a:lnSpc>
                <a:spcPct val="120000"/>
              </a:lnSpc>
            </a:pPr>
            <a:r>
              <a:rPr lang="en-US" dirty="0">
                <a:latin typeface="Century" panose="02040604050505020304" pitchFamily="18" charset="0"/>
              </a:rPr>
              <a:t>CreditPathAI stands out for its full-stack implementation. It combines technical robustness with business usability, making it suitable for real-world deployment in financial institutions.</a:t>
            </a:r>
          </a:p>
          <a:p>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latin typeface="Century" panose="02040604050505020304" pitchFamily="18" charset="0"/>
              </a:rPr>
              <a:t>Results &amp; Analysis</a:t>
            </a:r>
          </a:p>
        </p:txBody>
      </p:sp>
      <p:sp>
        <p:nvSpPr>
          <p:cNvPr id="3" name="Content Placeholder 2"/>
          <p:cNvSpPr>
            <a:spLocks noGrp="1"/>
          </p:cNvSpPr>
          <p:nvPr>
            <p:ph idx="1"/>
          </p:nvPr>
        </p:nvSpPr>
        <p:spPr/>
        <p:txBody>
          <a:bodyPr>
            <a:normAutofit fontScale="70000" lnSpcReduction="20000"/>
          </a:bodyPr>
          <a:lstStyle/>
          <a:p>
            <a:r>
              <a:rPr dirty="0">
                <a:latin typeface="Century" panose="02040604050505020304" pitchFamily="18" charset="0"/>
              </a:rPr>
              <a:t>Logistic Regression: AUC 0.74 (baseline).</a:t>
            </a:r>
          </a:p>
          <a:p>
            <a:r>
              <a:rPr dirty="0">
                <a:latin typeface="Century" panose="02040604050505020304" pitchFamily="18" charset="0"/>
              </a:rPr>
              <a:t>Random Forest: AUC 0.73.</a:t>
            </a:r>
          </a:p>
          <a:p>
            <a:r>
              <a:rPr dirty="0" err="1">
                <a:latin typeface="Century" panose="02040604050505020304" pitchFamily="18" charset="0"/>
              </a:rPr>
              <a:t>XGBoost</a:t>
            </a:r>
            <a:r>
              <a:rPr dirty="0">
                <a:latin typeface="Century" panose="02040604050505020304" pitchFamily="18" charset="0"/>
              </a:rPr>
              <a:t>: AUC 0.73 with better recall for defaulters.</a:t>
            </a:r>
          </a:p>
          <a:p>
            <a:r>
              <a:rPr dirty="0">
                <a:latin typeface="Century" panose="02040604050505020304" pitchFamily="18" charset="0"/>
              </a:rPr>
              <a:t>Risk Categories: Low (Normal), Medium (Reminder), High (Immediate).</a:t>
            </a:r>
          </a:p>
          <a:p>
            <a:r>
              <a:rPr dirty="0">
                <a:latin typeface="Century" panose="02040604050505020304" pitchFamily="18" charset="0"/>
              </a:rPr>
              <a:t>KPIs achieved: Improved recovery rate, reduced follow-up time.</a:t>
            </a:r>
            <a:endParaRPr lang="en-IN" dirty="0">
              <a:latin typeface="Century" panose="02040604050505020304" pitchFamily="18" charset="0"/>
            </a:endParaRPr>
          </a:p>
          <a:p>
            <a:pPr>
              <a:lnSpc>
                <a:spcPct val="120000"/>
              </a:lnSpc>
            </a:pPr>
            <a:r>
              <a:rPr lang="en-US" dirty="0">
                <a:latin typeface="Century" panose="02040604050505020304" pitchFamily="18" charset="0"/>
              </a:rPr>
              <a:t>The models were evaluated using AUC-ROC. </a:t>
            </a:r>
            <a:r>
              <a:rPr lang="en-US" dirty="0" err="1">
                <a:latin typeface="Century" panose="02040604050505020304" pitchFamily="18" charset="0"/>
              </a:rPr>
              <a:t>XGBoost</a:t>
            </a:r>
            <a:r>
              <a:rPr lang="en-US" dirty="0">
                <a:latin typeface="Century" panose="02040604050505020304" pitchFamily="18" charset="0"/>
              </a:rPr>
              <a:t> performed best in identifying defaulters. The recommendation engine categorizes borrowers and suggests actions, helping agents prioritize efforts.</a:t>
            </a:r>
          </a:p>
          <a:p>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latin typeface="Century" panose="02040604050505020304" pitchFamily="18" charset="0"/>
              </a:rPr>
              <a:t>Conclusion</a:t>
            </a:r>
          </a:p>
        </p:txBody>
      </p:sp>
      <p:sp>
        <p:nvSpPr>
          <p:cNvPr id="3" name="Content Placeholder 2"/>
          <p:cNvSpPr>
            <a:spLocks noGrp="1"/>
          </p:cNvSpPr>
          <p:nvPr>
            <p:ph idx="1"/>
          </p:nvPr>
        </p:nvSpPr>
        <p:spPr/>
        <p:txBody>
          <a:bodyPr>
            <a:normAutofit fontScale="85000" lnSpcReduction="10000"/>
          </a:bodyPr>
          <a:lstStyle/>
          <a:p>
            <a:r>
              <a:rPr dirty="0">
                <a:latin typeface="Century" panose="02040604050505020304" pitchFamily="18" charset="0"/>
              </a:rPr>
              <a:t>CreditPathAI provides actionable insights for recovery agents.</a:t>
            </a:r>
          </a:p>
          <a:p>
            <a:r>
              <a:rPr dirty="0">
                <a:latin typeface="Century" panose="02040604050505020304" pitchFamily="18" charset="0"/>
              </a:rPr>
              <a:t>Enhances risk prediction accuracy and reduces NPAs.</a:t>
            </a:r>
          </a:p>
          <a:p>
            <a:r>
              <a:rPr dirty="0">
                <a:latin typeface="Century" panose="02040604050505020304" pitchFamily="18" charset="0"/>
              </a:rPr>
              <a:t>Improves operational efficiency in loan recovery.</a:t>
            </a:r>
          </a:p>
          <a:p>
            <a:r>
              <a:rPr dirty="0">
                <a:latin typeface="Century" panose="02040604050505020304" pitchFamily="18" charset="0"/>
              </a:rPr>
              <a:t>Demonstrates real-world application of AI in BFSI.</a:t>
            </a:r>
            <a:endParaRPr lang="en-IN" dirty="0">
              <a:latin typeface="Century" panose="02040604050505020304" pitchFamily="18" charset="0"/>
            </a:endParaRPr>
          </a:p>
          <a:p>
            <a:pPr>
              <a:lnSpc>
                <a:spcPct val="110000"/>
              </a:lnSpc>
            </a:pPr>
            <a:r>
              <a:rPr lang="en-US" dirty="0">
                <a:latin typeface="Century" panose="02040604050505020304" pitchFamily="18" charset="0"/>
              </a:rPr>
              <a:t>The project successfully demonstrates how AI can be applied to solve real-world problems in the BFSI sector. It supports agents, reduces defaults, and improves recovery outcomes.</a:t>
            </a:r>
          </a:p>
          <a:p>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latin typeface="Century" panose="02040604050505020304" pitchFamily="18" charset="0"/>
              </a:rPr>
              <a:t>Future Scope</a:t>
            </a:r>
          </a:p>
        </p:txBody>
      </p:sp>
      <p:sp>
        <p:nvSpPr>
          <p:cNvPr id="3" name="Content Placeholder 2"/>
          <p:cNvSpPr>
            <a:spLocks noGrp="1"/>
          </p:cNvSpPr>
          <p:nvPr>
            <p:ph idx="1"/>
          </p:nvPr>
        </p:nvSpPr>
        <p:spPr/>
        <p:txBody>
          <a:bodyPr>
            <a:normAutofit fontScale="85000" lnSpcReduction="10000"/>
          </a:bodyPr>
          <a:lstStyle/>
          <a:p>
            <a:r>
              <a:rPr dirty="0">
                <a:latin typeface="Century" panose="02040604050505020304" pitchFamily="18" charset="0"/>
              </a:rPr>
              <a:t>Integrate </a:t>
            </a:r>
            <a:r>
              <a:rPr dirty="0" err="1">
                <a:latin typeface="Century" panose="02040604050505020304" pitchFamily="18" charset="0"/>
              </a:rPr>
              <a:t>LightGBM</a:t>
            </a:r>
            <a:r>
              <a:rPr dirty="0">
                <a:latin typeface="Century" panose="02040604050505020304" pitchFamily="18" charset="0"/>
              </a:rPr>
              <a:t> for improved performance.</a:t>
            </a:r>
          </a:p>
          <a:p>
            <a:r>
              <a:rPr dirty="0">
                <a:latin typeface="Century" panose="02040604050505020304" pitchFamily="18" charset="0"/>
              </a:rPr>
              <a:t>Live deployment with real-time scoring.</a:t>
            </a:r>
          </a:p>
          <a:p>
            <a:r>
              <a:rPr dirty="0">
                <a:latin typeface="Century" panose="02040604050505020304" pitchFamily="18" charset="0"/>
              </a:rPr>
              <a:t>Add authentication and role-based dashboards.</a:t>
            </a:r>
          </a:p>
          <a:p>
            <a:r>
              <a:rPr dirty="0">
                <a:latin typeface="Century" panose="02040604050505020304" pitchFamily="18" charset="0"/>
              </a:rPr>
              <a:t>Continuous monitoring for model drift and retraining.</a:t>
            </a:r>
          </a:p>
          <a:p>
            <a:r>
              <a:rPr dirty="0">
                <a:latin typeface="Century" panose="02040604050505020304" pitchFamily="18" charset="0"/>
              </a:rPr>
              <a:t>Expand to other financial products and geographies.</a:t>
            </a:r>
            <a:endParaRPr lang="en-IN" dirty="0">
              <a:latin typeface="Century" panose="02040604050505020304" pitchFamily="18" charset="0"/>
            </a:endParaRPr>
          </a:p>
          <a:p>
            <a:pPr>
              <a:lnSpc>
                <a:spcPct val="110000"/>
              </a:lnSpc>
            </a:pPr>
            <a:r>
              <a:rPr lang="en-US" dirty="0">
                <a:latin typeface="Century" panose="02040604050505020304" pitchFamily="18" charset="0"/>
              </a:rPr>
              <a:t>Future enhancements include using </a:t>
            </a:r>
            <a:r>
              <a:rPr lang="en-US" dirty="0" err="1">
                <a:latin typeface="Century" panose="02040604050505020304" pitchFamily="18" charset="0"/>
              </a:rPr>
              <a:t>LightGBM</a:t>
            </a:r>
            <a:r>
              <a:rPr lang="en-US" dirty="0">
                <a:latin typeface="Century" panose="02040604050505020304" pitchFamily="18" charset="0"/>
              </a:rPr>
              <a:t>, deploying the system live, adding user roles, and expanding the solution to other financial domains.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65A9D8-0628-31BF-831A-AC8BEA84B5E9}"/>
              </a:ext>
            </a:extLst>
          </p:cNvPr>
          <p:cNvSpPr/>
          <p:nvPr/>
        </p:nvSpPr>
        <p:spPr>
          <a:xfrm>
            <a:off x="2258741" y="2967335"/>
            <a:ext cx="4626523"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a:t>
            </a:r>
          </a:p>
        </p:txBody>
      </p:sp>
    </p:spTree>
    <p:extLst>
      <p:ext uri="{BB962C8B-B14F-4D97-AF65-F5344CB8AC3E}">
        <p14:creationId xmlns:p14="http://schemas.microsoft.com/office/powerpoint/2010/main" val="401906519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134</TotalTime>
  <Words>847</Words>
  <Application>Microsoft Office PowerPoint</Application>
  <PresentationFormat>On-screen Show (4:3)</PresentationFormat>
  <Paragraphs>80</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Century</vt:lpstr>
      <vt:lpstr>Garamond</vt:lpstr>
      <vt:lpstr>Organic</vt:lpstr>
      <vt:lpstr>CreditPathAI</vt:lpstr>
      <vt:lpstr>Abstract</vt:lpstr>
      <vt:lpstr>Introduction</vt:lpstr>
      <vt:lpstr>Literature Survey</vt:lpstr>
      <vt:lpstr>Technologies Used</vt:lpstr>
      <vt:lpstr>Dataset Description</vt:lpstr>
      <vt:lpstr>Methodology</vt:lpstr>
      <vt:lpstr>Unique Contributions</vt:lpstr>
      <vt:lpstr>Results &amp; Analysis</vt:lpstr>
      <vt:lpstr>Conclusion</vt:lpstr>
      <vt:lpstr>Future Scope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Sayantani Das</dc:creator>
  <cp:keywords/>
  <dc:description>generated using python-pptx</dc:description>
  <cp:lastModifiedBy>Sayantani Das</cp:lastModifiedBy>
  <cp:revision>6</cp:revision>
  <dcterms:created xsi:type="dcterms:W3CDTF">2013-01-27T09:14:16Z</dcterms:created>
  <dcterms:modified xsi:type="dcterms:W3CDTF">2026-01-19T16:07:39Z</dcterms:modified>
  <cp:category/>
</cp:coreProperties>
</file>